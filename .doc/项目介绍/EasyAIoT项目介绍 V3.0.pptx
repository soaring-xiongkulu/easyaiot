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5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sldIdLst>
    <p:sldId id="256" r:id="rId4"/>
    <p:sldId id="307" r:id="rId58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</p:sldIdLst>
  <p:sldSz cx="32512000" cy="182880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?>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58" Type="http://schemas.openxmlformats.org/officeDocument/2006/relationships/slide" Target="slides/slide5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25400" y="1075320"/>
            <a:ext cx="29260080" cy="299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625400" y="4555080"/>
            <a:ext cx="29260080" cy="1039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7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0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1.png"/></Relationships>
</file>

<file path=ppt/slides/_rels/slide5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2600"/>
            <a:ext cx="32511600" cy="18262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2600"/>
            <a:ext cx="32511600" cy="18262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2600"/>
            <a:ext cx="32511600" cy="18262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4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48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5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1600" cy="1828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2512000" cy="1828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C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49521-538E-41EF-B46B-AC07AD3E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33" y="592667"/>
            <a:ext cx="29633333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467" b="1">
                <a:solidFill>
                  <a:srgbClr val="391500"/>
                </a:solidFill>
              </a:defRPr>
            </a:defPPr>
            <a:lvl1pPr>
              <a:defRPr sz="7467" b="1">
                <a:solidFill>
                  <a:srgbClr val="391500"/>
                </a:solidFill>
              </a:defRPr>
            </a:lvl1pPr>
            <a:lvl2pPr>
              <a:defRPr sz="7467" b="1">
                <a:solidFill>
                  <a:srgbClr val="391500"/>
                </a:solidFill>
              </a:defRPr>
            </a:lvl2pPr>
            <a:lvl3pPr>
              <a:defRPr sz="7467" b="1">
                <a:solidFill>
                  <a:srgbClr val="391500"/>
                </a:solidFill>
              </a:defRPr>
            </a:lvl3pPr>
            <a:lvl4pPr>
              <a:defRPr sz="7467" b="1">
                <a:solidFill>
                  <a:srgbClr val="391500"/>
                </a:solidFill>
              </a:defRPr>
            </a:lvl4pPr>
            <a:lvl5pPr>
              <a:defRPr sz="7467" b="1">
                <a:solidFill>
                  <a:srgbClr val="391500"/>
                </a:solidFill>
              </a:defRPr>
            </a:lvl5pPr>
            <a:lvl6pPr>
              <a:defRPr sz="7467" b="1">
                <a:solidFill>
                  <a:srgbClr val="391500"/>
                </a:solidFill>
              </a:defRPr>
            </a:lvl6pPr>
            <a:lvl7pPr>
              <a:defRPr sz="7467" b="1">
                <a:solidFill>
                  <a:srgbClr val="391500"/>
                </a:solidFill>
              </a:defRPr>
            </a:lvl7pPr>
            <a:lvl8pPr>
              <a:defRPr sz="7467" b="1">
                <a:solidFill>
                  <a:srgbClr val="391500"/>
                </a:solidFill>
              </a:defRPr>
            </a:lvl8pPr>
            <a:lvl9pPr>
              <a:defRPr sz="7467" b="1">
                <a:solidFill>
                  <a:srgbClr val="391500"/>
                </a:solidFill>
              </a:defRPr>
            </a:lvl9pPr>
          </a:lstStyle>
          <a:p xmlns:a="http://schemas.openxmlformats.org/drawingml/2006/main">
            <a:pPr>
              <a:defRPr sz="7467" b="1">
                <a:solidFill>
                  <a:srgbClr val="391500"/>
                </a:solidFill>
              </a:defRPr>
            </a:pPr>
            <a:r>
              <a:rPr sz="7467" b="1">
                <a:solidFill>
                  <a:srgbClr val="391500"/>
                </a:solidFill>
              </a:rPr>
              <a:t>平台部署硬件清单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C966A-8CF8-4D2E-ABD8-0929B5D6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33" y="2286000"/>
            <a:ext cx="14562667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33" b="1">
                <a:solidFill>
                  <a:srgbClr val="391500"/>
                </a:solidFill>
              </a:defRPr>
            </a:defPPr>
            <a:lvl1pPr>
              <a:defRPr sz="4133" b="1">
                <a:solidFill>
                  <a:srgbClr val="391500"/>
                </a:solidFill>
              </a:defRPr>
            </a:lvl1pPr>
            <a:lvl2pPr>
              <a:defRPr sz="4133" b="1">
                <a:solidFill>
                  <a:srgbClr val="391500"/>
                </a:solidFill>
              </a:defRPr>
            </a:lvl2pPr>
            <a:lvl3pPr>
              <a:defRPr sz="4133" b="1">
                <a:solidFill>
                  <a:srgbClr val="391500"/>
                </a:solidFill>
              </a:defRPr>
            </a:lvl3pPr>
            <a:lvl4pPr>
              <a:defRPr sz="4133" b="1">
                <a:solidFill>
                  <a:srgbClr val="391500"/>
                </a:solidFill>
              </a:defRPr>
            </a:lvl4pPr>
            <a:lvl5pPr>
              <a:defRPr sz="4133" b="1">
                <a:solidFill>
                  <a:srgbClr val="391500"/>
                </a:solidFill>
              </a:defRPr>
            </a:lvl5pPr>
            <a:lvl6pPr>
              <a:defRPr sz="4133" b="1">
                <a:solidFill>
                  <a:srgbClr val="391500"/>
                </a:solidFill>
              </a:defRPr>
            </a:lvl6pPr>
            <a:lvl7pPr>
              <a:defRPr sz="4133" b="1">
                <a:solidFill>
                  <a:srgbClr val="391500"/>
                </a:solidFill>
              </a:defRPr>
            </a:lvl7pPr>
            <a:lvl8pPr>
              <a:defRPr sz="4133" b="1">
                <a:solidFill>
                  <a:srgbClr val="391500"/>
                </a:solidFill>
              </a:defRPr>
            </a:lvl8pPr>
            <a:lvl9pPr>
              <a:defRPr sz="4133" b="1">
                <a:solidFill>
                  <a:srgbClr val="391500"/>
                </a:solidFill>
              </a:defRPr>
            </a:lvl9pPr>
          </a:lstStyle>
          <a:p xmlns:a="http://schemas.openxmlformats.org/drawingml/2006/main">
            <a:pPr>
              <a:defRPr sz="4133" b="1">
                <a:solidFill>
                  <a:srgbClr val="391500"/>
                </a:solidFill>
              </a:defRPr>
            </a:pPr>
            <a:r>
              <a:rPr sz="4133" b="1">
                <a:solidFill>
                  <a:srgbClr val="391500"/>
                </a:solidFill>
              </a:rPr>
              <a:t>清单1：香橙派5 Max（Orange Pi 5 Max）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5671C-2864-4792-BF6E-413FCBB3E940}"/>
              </a:ext>
            </a:extLst>
          </p:cNvPr>
          <p:cNvGraphicFramePr/>
          <p:nvPr/>
        </p:nvGraphicFramePr>
        <p:xfrm>
          <a:off xmlns:a="http://schemas.openxmlformats.org/drawingml/2006/main" x="1185333" y="3386667"/>
          <a:ext xmlns:a="http://schemas.openxmlformats.org/drawingml/2006/main" cx="14562667" cy="1337733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44800"/>
                <a:gridCol w="11717867"/>
              </a:tblGrid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FFFFFF"/>
                          </a:solidFill>
                        </a:rPr>
                        <a:t>硬件模块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T w="16933">
                      <a:solidFill>
                        <a:srgbClr val="DBCBB3"/>
                      </a:solidFill>
                      <a:prstDash val="solid"/>
                    </a:lnT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6B3B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FFFFFF"/>
                          </a:solidFill>
                        </a:rPr>
                        <a:t>详细配置参数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T w="16933">
                      <a:solidFill>
                        <a:srgbClr val="DBCBB3"/>
                      </a:solidFill>
                      <a:prstDash val="solid"/>
                    </a:lnT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6B3B1E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核心SoC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Rockchip RK3588（8nm）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AI 算力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NPU 6 TOPS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图形处理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ARM Mali-G610 GPU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运行内存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16GB LPDDR5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本地存储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256GB eMMC（板载）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网络接口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1× PCIe 2.5G LAN（RTL8125BG）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无线模块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Wi-Fi 6E + 蓝牙5.3（AP6611）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</a:tr>
              <a:tr h="1100667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显示输出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2× HDMI 2.1（最高8K@60FPS）</a:t>
                      </a:r>
                    </a:p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1× MIPI DSI TX 4 Lane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</a:tr>
              <a:tr h="1100667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摄像头接口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2× MIPI CSI 4 Lane</a:t>
                      </a:r>
                    </a:p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1× MIPI D-PHY RX 4 Lane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</a:tr>
              <a:tr h="1100667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USB接口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2× USB 3.0，2× USB 2.0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扩展排针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40Pin（2.54mm双排）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音频系统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ES8388 Codec，3.5mm孔，板载MIC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供电方式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Type-C供电（5V@5A）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散热系统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5V 2PIN 1.25mm风扇插座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其他/调试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RTC插座、BOOT键、开关机键、RGB LED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AD734-A4AE-4B18-AB27-ABE61547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2286000"/>
            <a:ext cx="14562667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33" b="1">
                <a:solidFill>
                  <a:srgbClr val="391500"/>
                </a:solidFill>
              </a:defRPr>
            </a:defPPr>
            <a:lvl1pPr>
              <a:defRPr sz="4133" b="1">
                <a:solidFill>
                  <a:srgbClr val="391500"/>
                </a:solidFill>
              </a:defRPr>
            </a:lvl1pPr>
            <a:lvl2pPr>
              <a:defRPr sz="4133" b="1">
                <a:solidFill>
                  <a:srgbClr val="391500"/>
                </a:solidFill>
              </a:defRPr>
            </a:lvl2pPr>
            <a:lvl3pPr>
              <a:defRPr sz="4133" b="1">
                <a:solidFill>
                  <a:srgbClr val="391500"/>
                </a:solidFill>
              </a:defRPr>
            </a:lvl3pPr>
            <a:lvl4pPr>
              <a:defRPr sz="4133" b="1">
                <a:solidFill>
                  <a:srgbClr val="391500"/>
                </a:solidFill>
              </a:defRPr>
            </a:lvl4pPr>
            <a:lvl5pPr>
              <a:defRPr sz="4133" b="1">
                <a:solidFill>
                  <a:srgbClr val="391500"/>
                </a:solidFill>
              </a:defRPr>
            </a:lvl5pPr>
            <a:lvl6pPr>
              <a:defRPr sz="4133" b="1">
                <a:solidFill>
                  <a:srgbClr val="391500"/>
                </a:solidFill>
              </a:defRPr>
            </a:lvl6pPr>
            <a:lvl7pPr>
              <a:defRPr sz="4133" b="1">
                <a:solidFill>
                  <a:srgbClr val="391500"/>
                </a:solidFill>
              </a:defRPr>
            </a:lvl7pPr>
            <a:lvl8pPr>
              <a:defRPr sz="4133" b="1">
                <a:solidFill>
                  <a:srgbClr val="391500"/>
                </a:solidFill>
              </a:defRPr>
            </a:lvl8pPr>
            <a:lvl9pPr>
              <a:defRPr sz="4133" b="1">
                <a:solidFill>
                  <a:srgbClr val="391500"/>
                </a:solidFill>
              </a:defRPr>
            </a:lvl9pPr>
          </a:lstStyle>
          <a:p xmlns:a="http://schemas.openxmlformats.org/drawingml/2006/main">
            <a:pPr>
              <a:defRPr sz="4133" b="1">
                <a:solidFill>
                  <a:srgbClr val="391500"/>
                </a:solidFill>
              </a:defRPr>
            </a:pPr>
            <a:r>
              <a:rPr sz="4133" b="1">
                <a:solidFill>
                  <a:srgbClr val="391500"/>
                </a:solidFill>
              </a:rPr>
              <a:t>清单2：鲁班猫5（LubanCat 5）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F7A9B-F873-442A-A763-1212BBCF82C1}"/>
              </a:ext>
            </a:extLst>
          </p:cNvPr>
          <p:cNvGraphicFramePr/>
          <p:nvPr/>
        </p:nvGraphicFramePr>
        <p:xfrm>
          <a:off xmlns:a="http://schemas.openxmlformats.org/drawingml/2006/main" x="16764000" y="3386667"/>
          <a:ext xmlns:a="http://schemas.openxmlformats.org/drawingml/2006/main" cx="14562667" cy="1337733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44800"/>
                <a:gridCol w="11717867"/>
              </a:tblGrid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FFFFFF"/>
                          </a:solidFill>
                        </a:rPr>
                        <a:t>硬件模块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T w="16933">
                      <a:solidFill>
                        <a:srgbClr val="DBCBB3"/>
                      </a:solidFill>
                      <a:prstDash val="solid"/>
                    </a:lnT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6B3B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FFFFFF"/>
                          </a:solidFill>
                        </a:rPr>
                        <a:t>详细配置参数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T w="16933">
                      <a:solidFill>
                        <a:srgbClr val="DBCBB3"/>
                      </a:solidFill>
                      <a:prstDash val="solid"/>
                    </a:lnT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6B3B1E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核心SoC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Rockchip RK3588（8nm）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AI 算力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NPU 6 TOPS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图形处理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ARM Mali-G610 GPU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运行内存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16GB LPDDR4X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本地存储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128GB eMMC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网络接口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2× 千兆以太网（RTL8211F）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无线模块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Wi-Fi 6 + 蓝牙5.2（RTL8852BE）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</a:tr>
              <a:tr h="1100667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显示输出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1× HDMI 2.1（8K@60fps）</a:t>
                      </a:r>
                    </a:p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1× DP 1.4（Type-C输出），1× eDP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</a:tr>
              <a:tr h="1100667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摄像头接口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CSI ×6（可独立使用）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</a:tr>
              <a:tr h="1100667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USB接口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2× USB 3.1 Type-A，2× USB 2.0 Type-A</a:t>
                      </a:r>
                    </a:p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1× USB 3.1 Type-C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扩展排针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标配扩展接口（通常为40Pin）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音频系统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板载音频接口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供电方式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DC 12V@2A（DC圆头）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散热系统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主动散热风扇接口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5EEDD"/>
                    </a:solidFill>
                  </a:tcPr>
                </a:tc>
              </a:tr>
              <a:tr h="778933">
                <a:tc>
                  <a:txBody>
                    <a:bodyPr/>
                    <a:lstStyle/>
                    <a:p>
                      <a:r>
                        <a:rPr sz="3067" b="1">
                          <a:solidFill>
                            <a:srgbClr val="391500"/>
                          </a:solidFill>
                        </a:rPr>
                        <a:t>尺寸</a:t>
                      </a:r>
                    </a:p>
                  </a:txBody>
                  <a:tcPr marL="162560" marR="162560" marT="81280" marB="81280">
                    <a:lnL w="16933">
                      <a:solidFill>
                        <a:srgbClr val="DBCBB3"/>
                      </a:solidFill>
                      <a:prstDash val="solid"/>
                    </a:lnL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67" b="0">
                          <a:solidFill>
                            <a:srgbClr val="391500"/>
                          </a:solidFill>
                        </a:rPr>
                        <a:t>125 × 80 mm</a:t>
                      </a:r>
                    </a:p>
                  </a:txBody>
                  <a:tcPr marL="162560" marR="162560" marT="81280" marB="81280">
                    <a:lnR w="16933">
                      <a:solidFill>
                        <a:srgbClr val="DBCBB3"/>
                      </a:solidFill>
                      <a:prstDash val="solid"/>
                    </a:lnR>
                    <a:lnB w="16933">
                      <a:solidFill>
                        <a:srgbClr val="DBCBB3"/>
                      </a:solidFill>
                      <a:prstDash val="solid"/>
                    </a:lnB>
                    <a:solidFill>
                      <a:srgbClr val="FFFD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3441463"/>
      </p:ext>
    </p:extLst>
  </p:cSld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/>
  <Paragraphs>0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51</vt:i4>
      </vt:variant>
    </vt:vector>
  </HeadingPairs>
  <TitlesOfParts>
    <vt:vector size="61" baseType="lpstr">
      <vt:lpstr>Arial</vt:lpstr>
      <vt:lpstr>宋体</vt:lpstr>
      <vt:lpstr>Wingdings</vt:lpstr>
      <vt:lpstr>Arial</vt:lpstr>
      <vt:lpstr>Symbol</vt:lpstr>
      <vt:lpstr>微软雅黑</vt:lpstr>
      <vt:lpstr>Arial Unicode MS</vt:lpstr>
      <vt:lpstr>Calibri</vt:lpstr>
      <vt:lpstr>Office</vt:lpstr>
      <vt:lpstr>1_Office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酷酷冬天</cp:lastModifiedBy>
  <cp:revision>2</cp:revision>
  <dcterms:created xsi:type="dcterms:W3CDTF">2026-06-30T07:00:05Z</dcterms:created>
  <dcterms:modified xsi:type="dcterms:W3CDTF">2026-06-30T07:01:02Z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5CA6E01513704D1F90B216DD0BEB5DDE_12</vt:lpwstr>
  </property>
  <property fmtid="{D5CDD505-2E9C-101B-9397-08002B2CF9AE}" pid="3" name="KSOProductBuildVer">
    <vt:lpwstr>2052-12.1.0.26895</vt:lpwstr>
  </property>
</Properties>
</file>